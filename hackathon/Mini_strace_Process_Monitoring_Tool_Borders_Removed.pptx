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321040" y="594360"/>
            <a:ext cx="1280160" cy="1280160"/>
          </a:xfrm>
          <a:prstGeom prst="ellipse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2860" bIns="22860">
            <a:normAutofit/>
          </a:bodyPr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05088" y="795528"/>
            <a:ext cx="1280160" cy="1280160"/>
          </a:xfrm>
          <a:prstGeom prst="ellipse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2860" bIns="22860">
            <a:normAutofit/>
          </a:bodyPr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089136" y="996696"/>
            <a:ext cx="1280160" cy="1280160"/>
          </a:xfrm>
          <a:prstGeom prst="ellipse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2860" bIns="22860">
            <a:normAutofit/>
          </a:bodyPr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73184" y="1197864"/>
            <a:ext cx="1280160" cy="1280160"/>
          </a:xfrm>
          <a:prstGeom prst="ellipse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2860" bIns="22860">
            <a:normAutofit/>
          </a:bodyPr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857232" y="1399032"/>
            <a:ext cx="1280160" cy="1280160"/>
          </a:xfrm>
          <a:prstGeom prst="ellipse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2860" bIns="22860">
            <a:normAutofit/>
          </a:bodyPr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32520" y="987552"/>
            <a:ext cx="2377440" cy="23774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2860" bIns="22860">
            <a:norm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88552" y="1618488"/>
            <a:ext cx="1874519" cy="822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ctr" tIns="22860" bIns="22860">
            <a:norm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B53A0"/>
                </a:solidFill>
                <a:latin typeface="Arial"/>
              </a:rPr>
              <a:t>SYS
CALLS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804672"/>
            <a:ext cx="82296" cy="914400"/>
          </a:xfrm>
          <a:prstGeom prst="rect">
            <a:avLst/>
          </a:prstGeom>
          <a:solidFill>
            <a:srgbClr val="2B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2860" bIns="22860">
            <a:normAutofit/>
          </a:bodyPr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804672"/>
            <a:ext cx="6035040" cy="27432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B53A0"/>
                </a:solidFill>
                <a:latin typeface="Arial"/>
              </a:rPr>
              <a:t>OPEN SOURCE SOFTWARE  •  HACKATHON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1298448"/>
            <a:ext cx="7132320" cy="132588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C2739"/>
                </a:solidFill>
                <a:latin typeface="Arial"/>
              </a:rPr>
              <a:t>Mini strace-Like
Process Monitoring Tool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2852928"/>
            <a:ext cx="6400800" cy="73152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5B687C"/>
                </a:solidFill>
                <a:latin typeface="Arial"/>
              </a:rPr>
              <a:t>A simplified Linux system-call tracing utility that displays the calls made by a program during execution.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4050791"/>
            <a:ext cx="5577840" cy="219456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B53A0"/>
                </a:solidFill>
                <a:latin typeface="Arial"/>
              </a:rPr>
              <a:t>KLH DEEMED TO BE UNIVERSITY  |  CSE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0" y="6080760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5B687C"/>
                </a:solidFill>
                <a:latin typeface="Arial"/>
              </a:rPr>
              <a:t>17 OCTOBER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61320" y="6473952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B687C"/>
                </a:solidFill>
                <a:latin typeface="Arial"/>
              </a:rPr>
              <a:t>01  /  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" y="4736592"/>
            <a:ext cx="6309360" cy="1115568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22860" bIns="22860" anchor="ctr">
            <a:norm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2F3640"/>
                </a:solidFill>
                <a:latin typeface="Arial"/>
              </a:rPr>
              <a:t>Minajja Reddy  •  2520030352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2F3640"/>
                </a:solidFill>
                <a:latin typeface="Arial"/>
              </a:rPr>
              <a:t>Varnika  •  2520030020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2F3640"/>
                </a:solidFill>
                <a:latin typeface="Arial"/>
              </a:rPr>
              <a:t>Hamsini  •  2520030016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2F3640"/>
                </a:solidFill>
                <a:latin typeface="Arial"/>
              </a:rPr>
              <a:t>Likitha Balineni  •  2520030580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B53A0"/>
                </a:solidFill>
                <a:latin typeface="Arial"/>
              </a:rPr>
              <a:t>01 • WHY 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67512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C2739"/>
                </a:solidFill>
                <a:latin typeface="Arial"/>
              </a:rP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731520" cy="41148"/>
          </a:xfrm>
          <a:prstGeom prst="rect">
            <a:avLst/>
          </a:prstGeom>
          <a:solidFill>
            <a:srgbClr val="2B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2860" bIns="22860">
            <a:normAutofit/>
          </a:bodyPr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61320" y="6473952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B687C"/>
                </a:solidFill>
                <a:latin typeface="Arial"/>
              </a:rPr>
              <a:t>02  / 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73952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B687C"/>
                </a:solidFill>
                <a:latin typeface="Arial"/>
              </a:rPr>
              <a:t>KLH • CSE • Hackathon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627632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C2739"/>
                </a:solidFill>
                <a:latin typeface="Arial"/>
              </a:rPr>
              <a:t>Applications rely on the Linux kernel for files, processes, memory, and communication—but those interactions are usually hidden from the learner.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2606040"/>
            <a:ext cx="50292" cy="2148840"/>
          </a:xfrm>
          <a:prstGeom prst="rect">
            <a:avLst/>
          </a:prstGeom>
          <a:solidFill>
            <a:srgbClr val="537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2860" bIns="22860">
            <a:normAutofit/>
          </a:bodyPr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770632"/>
            <a:ext cx="3063240" cy="310896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C2739"/>
                </a:solidFill>
                <a:latin typeface="Arial"/>
              </a:rPr>
              <a:t>Visibility 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72968"/>
            <a:ext cx="3044952" cy="146304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87C"/>
                </a:solidFill>
                <a:latin typeface="Arial"/>
              </a:rPr>
              <a:t>A program’s source code does not directly show every kernel service it requests at runtime.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70832" y="2606040"/>
            <a:ext cx="50292" cy="2148840"/>
          </a:xfrm>
          <a:prstGeom prst="rect">
            <a:avLst/>
          </a:prstGeom>
          <a:solidFill>
            <a:srgbClr val="B78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2860" bIns="22860">
            <a:normAutofit/>
          </a:bodyPr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770632"/>
            <a:ext cx="3063240" cy="310896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C2739"/>
                </a:solidFill>
                <a:latin typeface="Arial"/>
              </a:rPr>
              <a:t>Debugging challenge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172968"/>
            <a:ext cx="3044952" cy="146304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87C"/>
                </a:solidFill>
                <a:latin typeface="Arial"/>
              </a:rPr>
              <a:t>Without tracing, it can be difficult to connect program behavior to file, process, or memory operations.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28431" y="2606040"/>
            <a:ext cx="50292" cy="2148840"/>
          </a:xfrm>
          <a:prstGeom prst="rect">
            <a:avLst/>
          </a:prstGeom>
          <a:solidFill>
            <a:srgbClr val="2B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2860" bIns="22860">
            <a:norm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2770632"/>
            <a:ext cx="3063240" cy="310896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C2739"/>
                </a:solidFill>
                <a:latin typeface="Arial"/>
              </a:rPr>
              <a:t>Learning barrier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172968"/>
            <a:ext cx="3044952" cy="146304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87C"/>
                </a:solidFill>
                <a:latin typeface="Arial"/>
              </a:rPr>
              <a:t>System-call tracing tools are powerful, but a smaller educational implementation can make the mechanism easier to understand.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349240"/>
            <a:ext cx="1234440" cy="219456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B53A0"/>
                </a:solidFill>
                <a:latin typeface="Arial"/>
              </a:rPr>
              <a:t>Project goal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5321808"/>
            <a:ext cx="8778240" cy="292608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C2739"/>
                </a:solidFill>
                <a:latin typeface="Arial"/>
              </a:rPr>
              <a:t>Build a focused, readable tracer that observes system calls made by a target process in a controlled Linux environment.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B53A0"/>
                </a:solidFill>
                <a:latin typeface="Arial"/>
              </a:rPr>
              <a:t>02 • WHAT WE AIM TO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67512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C2739"/>
                </a:solidFill>
                <a:latin typeface="Arial"/>
              </a:rPr>
              <a:t>Objectives &amp;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731520" cy="41148"/>
          </a:xfrm>
          <a:prstGeom prst="rect">
            <a:avLst/>
          </a:prstGeom>
          <a:solidFill>
            <a:srgbClr val="2B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2860" bIns="22860">
            <a:normAutofit/>
          </a:bodyPr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61320" y="6473952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B687C"/>
                </a:solidFill>
                <a:latin typeface="Arial"/>
              </a:rPr>
              <a:t>03  / 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73952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B687C"/>
                </a:solidFill>
                <a:latin typeface="Arial"/>
              </a:rPr>
              <a:t>KLH • CSE • Hackathon 2026</a:t>
            </a:r>
          </a:p>
        </p:txBody>
      </p:sp>
      <p:sp>
        <p:nvSpPr>
          <p:cNvPr id="7" name="Oval 6"/>
          <p:cNvSpPr/>
          <p:nvPr/>
        </p:nvSpPr>
        <p:spPr>
          <a:xfrm>
            <a:off x="841248" y="1746504"/>
            <a:ext cx="438912" cy="438912"/>
          </a:xfrm>
          <a:prstGeom prst="ellipse">
            <a:avLst/>
          </a:prstGeom>
          <a:solidFill>
            <a:srgbClr val="2B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2860" bIns="22860">
            <a:norm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810512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8F9FC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691640"/>
            <a:ext cx="1554480" cy="310896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C2739"/>
                </a:solidFill>
                <a:latin typeface="Arial"/>
              </a:rPr>
              <a:t>Trace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691640"/>
            <a:ext cx="8138160" cy="530352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B687C"/>
                </a:solidFill>
                <a:latin typeface="Arial"/>
              </a:rPr>
              <a:t>Launch or attach to a target process and observe system-call activity.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734056"/>
            <a:ext cx="438912" cy="438912"/>
          </a:xfrm>
          <a:prstGeom prst="ellipse">
            <a:avLst/>
          </a:prstGeom>
          <a:solidFill>
            <a:srgbClr val="2B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2860" bIns="22860">
            <a:normAutofit/>
          </a:bodyPr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798064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8F9FC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679192"/>
            <a:ext cx="1554480" cy="310896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C2739"/>
                </a:solidFill>
                <a:latin typeface="Arial"/>
              </a:rPr>
              <a:t>Display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679192"/>
            <a:ext cx="8138160" cy="530352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B687C"/>
                </a:solidFill>
                <a:latin typeface="Arial"/>
              </a:rPr>
              <a:t>Show syscall identifiers or names, arguments where supported, and return values where available.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721607"/>
            <a:ext cx="438912" cy="438912"/>
          </a:xfrm>
          <a:prstGeom prst="ellipse">
            <a:avLst/>
          </a:prstGeom>
          <a:solidFill>
            <a:srgbClr val="2B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2860" bIns="22860">
            <a:normAutofit/>
          </a:bodyPr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3785615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8F9FC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666744"/>
            <a:ext cx="1554480" cy="310896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C2739"/>
                </a:solidFill>
                <a:latin typeface="Arial"/>
              </a:rPr>
              <a:t>Explain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3666744"/>
            <a:ext cx="8138160" cy="530352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B687C"/>
                </a:solidFill>
                <a:latin typeface="Arial"/>
              </a:rPr>
              <a:t>Connect observed calls to common operating-system activities such as opening files or creating processes.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4709159"/>
            <a:ext cx="438912" cy="438912"/>
          </a:xfrm>
          <a:prstGeom prst="ellipse">
            <a:avLst/>
          </a:prstGeom>
          <a:solidFill>
            <a:srgbClr val="B78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2860" bIns="22860">
            <a:normAutofit/>
          </a:bodyPr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4773168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8F9FC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654296"/>
            <a:ext cx="1554480" cy="310896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C2739"/>
                </a:solidFill>
                <a:latin typeface="Arial"/>
              </a:rPr>
              <a:t>Keep safe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4654296"/>
            <a:ext cx="8138160" cy="530352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B687C"/>
                </a:solidFill>
                <a:latin typeface="Arial"/>
              </a:rPr>
              <a:t>Limit experiments to owned test programs and document platform / permission requirements.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5815584"/>
            <a:ext cx="10149840" cy="18288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B78736"/>
                </a:solidFill>
                <a:latin typeface="Arial"/>
              </a:rPr>
              <a:t>Scope note: an educational subset of strace—not a full replacement for production tracing tools.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B53A0"/>
                </a:solidFill>
                <a:latin typeface="Arial"/>
              </a:rPr>
              <a:t>03 • HIGH-LEVEL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67512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C2739"/>
                </a:solidFill>
                <a:latin typeface="Arial"/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731520" cy="41148"/>
          </a:xfrm>
          <a:prstGeom prst="rect">
            <a:avLst/>
          </a:prstGeom>
          <a:solidFill>
            <a:srgbClr val="2B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2860" bIns="22860">
            <a:normAutofit/>
          </a:bodyPr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61320" y="6473952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B687C"/>
                </a:solidFill>
                <a:latin typeface="Arial"/>
              </a:rPr>
              <a:t>04  / 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73952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B687C"/>
                </a:solidFill>
                <a:latin typeface="Arial"/>
              </a:rPr>
              <a:t>KLH • CSE • Hackathon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68880"/>
            <a:ext cx="1892808" cy="32004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C2739"/>
                </a:solidFill>
                <a:latin typeface="Arial"/>
              </a:rPr>
              <a:t>Target program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898648"/>
            <a:ext cx="1892808" cy="384048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B687C"/>
                </a:solidFill>
                <a:latin typeface="Arial"/>
              </a:rPr>
              <a:t>Example: ls, echo,
or a test binary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1296" y="2468880"/>
            <a:ext cx="1892808" cy="32004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C2739"/>
                </a:solidFill>
                <a:latin typeface="Arial"/>
              </a:rPr>
              <a:t>Tracer controller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11296" y="2898648"/>
            <a:ext cx="1892808" cy="384048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B687C"/>
                </a:solidFill>
                <a:latin typeface="Arial"/>
              </a:rPr>
              <a:t>fork / exec +
ptrace setup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63055" y="2468880"/>
            <a:ext cx="1892808" cy="32004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C2739"/>
                </a:solidFill>
                <a:latin typeface="Arial"/>
              </a:rPr>
              <a:t>Kernel interface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63055" y="2898648"/>
            <a:ext cx="1892808" cy="384048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B687C"/>
                </a:solidFill>
                <a:latin typeface="Arial"/>
              </a:rPr>
              <a:t>Syscall-stop events
from traced process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14816" y="2468880"/>
            <a:ext cx="2304287" cy="32004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C2739"/>
                </a:solidFill>
                <a:latin typeface="Arial"/>
              </a:rPr>
              <a:t>Event formatter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14816" y="2898648"/>
            <a:ext cx="2304287" cy="384048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B687C"/>
                </a:solidFill>
                <a:latin typeface="Arial"/>
              </a:rPr>
              <a:t>Decode and print
trace records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916936" y="2852928"/>
            <a:ext cx="393192" cy="0"/>
          </a:xfrm>
          <a:prstGeom prst="line">
            <a:avLst/>
          </a:prstGeom>
          <a:ln w="25400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568696" y="2852928"/>
            <a:ext cx="393192" cy="0"/>
          </a:xfrm>
          <a:prstGeom prst="line">
            <a:avLst/>
          </a:prstGeom>
          <a:ln w="25400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220455" y="2852928"/>
            <a:ext cx="393193" cy="0"/>
          </a:xfrm>
          <a:prstGeom prst="line">
            <a:avLst/>
          </a:prstGeom>
          <a:ln w="25400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148840" y="4517136"/>
            <a:ext cx="1508760" cy="22860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B53A0"/>
                </a:solidFill>
                <a:latin typeface="Arial"/>
              </a:rPr>
              <a:t>Output stream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517136"/>
            <a:ext cx="6217920" cy="22860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C2739"/>
                </a:solidFill>
                <a:latin typeface="Arial"/>
              </a:rPr>
              <a:t>read(…), write(…), openat(…), close(…)  →  readable trace lines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8046720" y="3566160"/>
            <a:ext cx="1828800" cy="749808"/>
          </a:xfrm>
          <a:prstGeom prst="line">
            <a:avLst/>
          </a:prstGeom>
          <a:ln w="25400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60120" y="562356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5B687C"/>
                </a:solidFill>
                <a:latin typeface="Arial"/>
              </a:rPr>
              <a:t>Conceptual flow: the tracer observes the target's syscall stops and formats events for the user.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B53A0"/>
                </a:solidFill>
                <a:latin typeface="Arial"/>
              </a:rPr>
              <a:t>04 • FROM LAUNCH TO TRACE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67512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C2739"/>
                </a:solidFill>
                <a:latin typeface="Arial"/>
              </a:rPr>
              <a:t>Execution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731520" cy="41148"/>
          </a:xfrm>
          <a:prstGeom prst="rect">
            <a:avLst/>
          </a:prstGeom>
          <a:solidFill>
            <a:srgbClr val="2B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2860" bIns="22860">
            <a:normAutofit/>
          </a:bodyPr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61320" y="6473952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B687C"/>
                </a:solidFill>
                <a:latin typeface="Arial"/>
              </a:rPr>
              <a:t>05  / 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73952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B687C"/>
                </a:solidFill>
                <a:latin typeface="Arial"/>
              </a:rPr>
              <a:t>KLH • CSE • Hackathon 2026</a:t>
            </a:r>
          </a:p>
        </p:txBody>
      </p:sp>
      <p:sp>
        <p:nvSpPr>
          <p:cNvPr id="8" name="Oval 7"/>
          <p:cNvSpPr/>
          <p:nvPr/>
        </p:nvSpPr>
        <p:spPr>
          <a:xfrm>
            <a:off x="941832" y="1901952"/>
            <a:ext cx="438912" cy="438912"/>
          </a:xfrm>
          <a:prstGeom prst="ellipse">
            <a:avLst/>
          </a:prstGeom>
          <a:solidFill>
            <a:srgbClr val="2B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2860" bIns="22860">
            <a:norm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993391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8F9FC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7048" y="1920240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C2739"/>
                </a:solidFill>
                <a:latin typeface="Arial"/>
              </a:rPr>
              <a:t>Start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5" y="2450591"/>
            <a:ext cx="2816352" cy="438912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B687C"/>
                </a:solidFill>
                <a:latin typeface="Arial"/>
              </a:rPr>
              <a:t>User provides a command
to trace.</a:t>
            </a:r>
          </a:p>
        </p:txBody>
      </p:sp>
      <p:sp>
        <p:nvSpPr>
          <p:cNvPr id="13" name="Oval 12"/>
          <p:cNvSpPr/>
          <p:nvPr/>
        </p:nvSpPr>
        <p:spPr>
          <a:xfrm>
            <a:off x="4736592" y="1901952"/>
            <a:ext cx="438912" cy="438912"/>
          </a:xfrm>
          <a:prstGeom prst="ellipse">
            <a:avLst/>
          </a:prstGeom>
          <a:solidFill>
            <a:srgbClr val="2B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2860" bIns="22860">
            <a:normAutofit/>
          </a:bodyPr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36592" y="1993391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8F9FC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21808" y="1920240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C2739"/>
                </a:solidFill>
                <a:latin typeface="Arial"/>
              </a:rPr>
              <a:t>Spawn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91456" y="2450591"/>
            <a:ext cx="2816352" cy="438912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B687C"/>
                </a:solidFill>
                <a:latin typeface="Arial"/>
              </a:rPr>
              <a:t>Tracer creates a child
process.</a:t>
            </a:r>
          </a:p>
        </p:txBody>
      </p:sp>
      <p:sp>
        <p:nvSpPr>
          <p:cNvPr id="18" name="Oval 17"/>
          <p:cNvSpPr/>
          <p:nvPr/>
        </p:nvSpPr>
        <p:spPr>
          <a:xfrm>
            <a:off x="8531352" y="1901952"/>
            <a:ext cx="438912" cy="438912"/>
          </a:xfrm>
          <a:prstGeom prst="ellipse">
            <a:avLst/>
          </a:prstGeom>
          <a:solidFill>
            <a:srgbClr val="2B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2860" bIns="22860">
            <a:normAutofit/>
          </a:bodyPr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31352" y="1993391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8F9FC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16568" y="1920240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C2739"/>
                </a:solidFill>
                <a:latin typeface="Arial"/>
              </a:rPr>
              <a:t>Enable tracing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86216" y="2450591"/>
            <a:ext cx="2816352" cy="438912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B687C"/>
                </a:solidFill>
                <a:latin typeface="Arial"/>
              </a:rPr>
              <a:t>Child requests tracing;
then executes target.</a:t>
            </a:r>
          </a:p>
        </p:txBody>
      </p:sp>
      <p:sp>
        <p:nvSpPr>
          <p:cNvPr id="23" name="Oval 22"/>
          <p:cNvSpPr/>
          <p:nvPr/>
        </p:nvSpPr>
        <p:spPr>
          <a:xfrm>
            <a:off x="941832" y="3913631"/>
            <a:ext cx="438912" cy="438912"/>
          </a:xfrm>
          <a:prstGeom prst="ellipse">
            <a:avLst/>
          </a:prstGeom>
          <a:solidFill>
            <a:srgbClr val="537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2860" bIns="22860">
            <a:normAutofit/>
          </a:bodyPr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" y="4005072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8F9FC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7048" y="3931920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C2739"/>
                </a:solidFill>
                <a:latin typeface="Arial"/>
              </a:rPr>
              <a:t>Wait &amp; inspect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5" y="4462272"/>
            <a:ext cx="2816352" cy="438912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B687C"/>
                </a:solidFill>
                <a:latin typeface="Arial"/>
              </a:rPr>
              <a:t>Parent waits for syscall
stop / process exit.</a:t>
            </a:r>
          </a:p>
        </p:txBody>
      </p:sp>
      <p:sp>
        <p:nvSpPr>
          <p:cNvPr id="28" name="Oval 27"/>
          <p:cNvSpPr/>
          <p:nvPr/>
        </p:nvSpPr>
        <p:spPr>
          <a:xfrm>
            <a:off x="4736592" y="3913631"/>
            <a:ext cx="438912" cy="438912"/>
          </a:xfrm>
          <a:prstGeom prst="ellipse">
            <a:avLst/>
          </a:prstGeom>
          <a:solidFill>
            <a:srgbClr val="537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2860" bIns="22860">
            <a:normAutofit/>
          </a:bodyPr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36592" y="4005072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8F9FC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21808" y="3931920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C2739"/>
                </a:solidFill>
                <a:latin typeface="Arial"/>
              </a:rPr>
              <a:t>Format event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91456" y="4462272"/>
            <a:ext cx="2816352" cy="438912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B687C"/>
                </a:solidFill>
                <a:latin typeface="Arial"/>
              </a:rPr>
              <a:t>Read registers or event
metadata as supported.</a:t>
            </a:r>
          </a:p>
        </p:txBody>
      </p:sp>
      <p:sp>
        <p:nvSpPr>
          <p:cNvPr id="33" name="Oval 32"/>
          <p:cNvSpPr/>
          <p:nvPr/>
        </p:nvSpPr>
        <p:spPr>
          <a:xfrm>
            <a:off x="8531352" y="3913631"/>
            <a:ext cx="438912" cy="438912"/>
          </a:xfrm>
          <a:prstGeom prst="ellipse">
            <a:avLst/>
          </a:prstGeom>
          <a:solidFill>
            <a:srgbClr val="537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2860" bIns="22860">
            <a:normAutofit/>
          </a:bodyPr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31352" y="4005072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8F9FC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16568" y="3931920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C2739"/>
                </a:solidFill>
                <a:latin typeface="Arial"/>
              </a:rPr>
              <a:t>Repeat / finish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86216" y="4462272"/>
            <a:ext cx="2816352" cy="438912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B687C"/>
                </a:solidFill>
                <a:latin typeface="Arial"/>
              </a:rPr>
              <a:t>Resume child until exit;
report final status.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041648" y="2404872"/>
            <a:ext cx="301752" cy="0"/>
          </a:xfrm>
          <a:prstGeom prst="line">
            <a:avLst/>
          </a:prstGeom>
          <a:ln w="25400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836408" y="2404872"/>
            <a:ext cx="301752" cy="0"/>
          </a:xfrm>
          <a:prstGeom prst="line">
            <a:avLst/>
          </a:prstGeom>
          <a:ln w="25400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2331720" y="3108960"/>
            <a:ext cx="7498080" cy="566927"/>
          </a:xfrm>
          <a:prstGeom prst="line">
            <a:avLst/>
          </a:prstGeom>
          <a:ln w="19050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041648" y="4416552"/>
            <a:ext cx="301752" cy="0"/>
          </a:xfrm>
          <a:prstGeom prst="line">
            <a:avLst/>
          </a:prstGeom>
          <a:ln w="25400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836408" y="4416552"/>
            <a:ext cx="301752" cy="0"/>
          </a:xfrm>
          <a:prstGeom prst="line">
            <a:avLst/>
          </a:prstGeom>
          <a:ln w="25400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868680" y="5897880"/>
            <a:ext cx="10515600" cy="347472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B78736"/>
                </a:solidFill>
                <a:latin typeface="Arial"/>
              </a:rPr>
              <a:t>Important implementation detail: syscall entry and exit stops must be distinguished to avoid treating one call as two unrelated events.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B53A0"/>
                </a:solidFill>
                <a:latin typeface="Arial"/>
              </a:rPr>
              <a:t>05 • TOOLS &amp; INTERFACES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67512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C2739"/>
                </a:solidFill>
                <a:latin typeface="Arial"/>
              </a:rP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731520" cy="41148"/>
          </a:xfrm>
          <a:prstGeom prst="rect">
            <a:avLst/>
          </a:prstGeom>
          <a:solidFill>
            <a:srgbClr val="2B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2860" bIns="22860">
            <a:normAutofit/>
          </a:bodyPr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61320" y="6473952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B687C"/>
                </a:solidFill>
                <a:latin typeface="Arial"/>
              </a:rPr>
              <a:t>06  / 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73952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B687C"/>
                </a:solidFill>
                <a:latin typeface="Arial"/>
              </a:rPr>
              <a:t>KLH • CSE • Hackathon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" y="1837944"/>
            <a:ext cx="1078992" cy="164592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2B53A0"/>
                </a:solidFill>
                <a:latin typeface="Arial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1737360"/>
            <a:ext cx="2148840" cy="201168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C2739"/>
                </a:solidFill>
                <a:latin typeface="Arial"/>
              </a:rPr>
              <a:t>Implementation language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737360"/>
            <a:ext cx="6446520" cy="347472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87C"/>
                </a:solidFill>
                <a:latin typeface="Arial"/>
              </a:rPr>
              <a:t>Low-level control, system headers, process and signal APIs.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1" y="2679192"/>
            <a:ext cx="1078992" cy="164592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5377B8"/>
                </a:solidFill>
                <a:latin typeface="Arial"/>
              </a:rPr>
              <a:t>Linux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2578608"/>
            <a:ext cx="2148840" cy="201168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C2739"/>
                </a:solidFill>
                <a:latin typeface="Arial"/>
              </a:rPr>
              <a:t>Operating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578608"/>
            <a:ext cx="6446520" cy="347472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87C"/>
                </a:solidFill>
                <a:latin typeface="Arial"/>
              </a:rPr>
              <a:t>Provides process model, syscall ABI, and tracing interfaces.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1" y="3520440"/>
            <a:ext cx="1078992" cy="164592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B78736"/>
                </a:solidFill>
                <a:latin typeface="Arial"/>
              </a:rPr>
              <a:t>ptrace()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23160" y="3419856"/>
            <a:ext cx="2148840" cy="201168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C2739"/>
                </a:solidFill>
                <a:latin typeface="Arial"/>
              </a:rPr>
              <a:t>Tracing interface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419856"/>
            <a:ext cx="6446520" cy="347472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87C"/>
                </a:solidFill>
                <a:latin typeface="Arial"/>
              </a:rPr>
              <a:t>Can stop / resume a tracee and expose syscall-stop information.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1" y="4361688"/>
            <a:ext cx="1078992" cy="164592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2F7D5B"/>
                </a:solidFill>
                <a:latin typeface="Arial"/>
              </a:rPr>
              <a:t>GCC / Make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23160" y="4261104"/>
            <a:ext cx="2148840" cy="201168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C2739"/>
                </a:solidFill>
                <a:latin typeface="Arial"/>
              </a:rPr>
              <a:t>Build workflow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261104"/>
            <a:ext cx="6446520" cy="347472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87C"/>
                </a:solidFill>
                <a:latin typeface="Arial"/>
              </a:rPr>
              <a:t>Compile the tracer and keep build commands repeatable.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1" y="5202936"/>
            <a:ext cx="1078992" cy="164592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AB414D"/>
                </a:solidFill>
                <a:latin typeface="Arial"/>
              </a:rPr>
              <a:t>/proc + waitpid()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23160" y="5102352"/>
            <a:ext cx="2148840" cy="201168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C2739"/>
                </a:solidFill>
                <a:latin typeface="Arial"/>
              </a:rPr>
              <a:t>Process context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5102352"/>
            <a:ext cx="6446520" cy="347472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87C"/>
                </a:solidFill>
                <a:latin typeface="Arial"/>
              </a:rPr>
              <a:t>Optional process metadata and child-state synchronization.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989320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B78736"/>
                </a:solidFill>
                <a:latin typeface="Arial"/>
              </a:rPr>
              <a:t>Platform note: syscall numbering, register layouts, and decoding can vary by CPU architecture and Linux version.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B53A0"/>
                </a:solidFill>
                <a:latin typeface="Arial"/>
              </a:rPr>
              <a:t>06 • HOW THE TRACER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67512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C2739"/>
                </a:solidFill>
                <a:latin typeface="Arial"/>
              </a:rPr>
              <a:t>Core Implementation Logic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731520" cy="41148"/>
          </a:xfrm>
          <a:prstGeom prst="rect">
            <a:avLst/>
          </a:prstGeom>
          <a:solidFill>
            <a:srgbClr val="2B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2860" bIns="22860">
            <a:normAutofit/>
          </a:bodyPr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61320" y="6473952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B687C"/>
                </a:solidFill>
                <a:latin typeface="Arial"/>
              </a:rPr>
              <a:t>07  / 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73952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B687C"/>
                </a:solidFill>
                <a:latin typeface="Arial"/>
              </a:rPr>
              <a:t>KLH • CSE • Hackathon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C2739"/>
                </a:solidFill>
                <a:latin typeface="Arial"/>
              </a:rPr>
              <a:t>Illustrative control loop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267712"/>
            <a:ext cx="5074920" cy="210312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377B8"/>
                </a:solidFill>
                <a:latin typeface="Consolas"/>
              </a:rPr>
              <a:t>child = fork()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514600"/>
            <a:ext cx="5074920" cy="210312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377B8"/>
                </a:solidFill>
                <a:latin typeface="Consolas"/>
              </a:rPr>
              <a:t>if child == 0: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761488"/>
            <a:ext cx="5074920" cy="210312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78736"/>
                </a:solidFill>
                <a:latin typeface="Consolas"/>
              </a:rPr>
              <a:t>    request tracing (PTRACE_TRACEME)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3008376"/>
            <a:ext cx="5074920" cy="210312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78736"/>
                </a:solidFill>
                <a:latin typeface="Consolas"/>
              </a:rPr>
              <a:t>    execvp(command, args)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3255264"/>
            <a:ext cx="5074920" cy="210312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377B8"/>
                </a:solidFill>
                <a:latin typeface="Consolas"/>
              </a:rPr>
              <a:t>else: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3502152"/>
            <a:ext cx="5074920" cy="210312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onsolas"/>
              </a:rPr>
              <a:t>    waitpid(child, ...)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3749039"/>
            <a:ext cx="5074920" cy="210312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onsolas"/>
              </a:rPr>
              <a:t>    configure syscall-stop handling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3995928"/>
            <a:ext cx="5074920" cy="210312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377B8"/>
                </a:solidFill>
                <a:latin typeface="Consolas"/>
              </a:rPr>
              <a:t>    while child is running: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4242816"/>
            <a:ext cx="5074920" cy="210312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onsolas"/>
              </a:rPr>
              <a:t>        resume with syscall tracing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4489704"/>
            <a:ext cx="5074920" cy="210312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onsolas"/>
              </a:rPr>
              <a:t>        wait for next stop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4736592"/>
            <a:ext cx="5074920" cy="210312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onsolas"/>
              </a:rPr>
              <a:t>        decode + print event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4983480"/>
            <a:ext cx="5074920" cy="210312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onsolas"/>
              </a:rPr>
              <a:t>    report exit status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20840" y="2011680"/>
            <a:ext cx="50292" cy="1188720"/>
          </a:xfrm>
          <a:prstGeom prst="rect">
            <a:avLst/>
          </a:prstGeom>
          <a:solidFill>
            <a:srgbClr val="2B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2860" bIns="22860">
            <a:normAutofit/>
          </a:bodyPr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22007" y="2176272"/>
            <a:ext cx="4069079" cy="310896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C2739"/>
                </a:solidFill>
                <a:latin typeface="Arial"/>
              </a:rPr>
              <a:t>Trace lifecycle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22007" y="2578608"/>
            <a:ext cx="4050791" cy="50292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87C"/>
                </a:solidFill>
                <a:latin typeface="Arial"/>
              </a:rPr>
              <a:t>Start → stop at syscall events → resume → repeat until exit.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20840" y="3474720"/>
            <a:ext cx="50292" cy="1188720"/>
          </a:xfrm>
          <a:prstGeom prst="rect">
            <a:avLst/>
          </a:prstGeom>
          <a:solidFill>
            <a:srgbClr val="537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2860" bIns="22860">
            <a:normAutofit/>
          </a:bodyPr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22007" y="3639312"/>
            <a:ext cx="4069079" cy="310896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C2739"/>
                </a:solidFill>
                <a:latin typeface="Arial"/>
              </a:rPr>
              <a:t>Trace record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22007" y="4041648"/>
            <a:ext cx="4050791" cy="50292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87C"/>
                </a:solidFill>
                <a:latin typeface="Arial"/>
              </a:rPr>
              <a:t>Typical fields: process ID, syscall label / number, selected arguments, return value.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20840" y="4937760"/>
            <a:ext cx="50292" cy="914400"/>
          </a:xfrm>
          <a:prstGeom prst="rect">
            <a:avLst/>
          </a:prstGeom>
          <a:solidFill>
            <a:srgbClr val="B78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2860" bIns="22860">
            <a:normAutofit/>
          </a:bodyPr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22007" y="5102352"/>
            <a:ext cx="4069079" cy="310896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C2739"/>
                </a:solidFill>
                <a:latin typeface="Arial"/>
              </a:rPr>
              <a:t>Implementation boundary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22007" y="5504688"/>
            <a:ext cx="4050791" cy="22860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87C"/>
                </a:solidFill>
                <a:latin typeface="Arial"/>
              </a:rPr>
              <a:t>Exact decoding depends on architecture and current code coverage.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5925312"/>
            <a:ext cx="10332720" cy="256032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5B687C"/>
                </a:solidFill>
                <a:latin typeface="Arial"/>
              </a:rPr>
              <a:t>Pseudocode only — adapt names and flags to the implementation actually built by the team.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B53A0"/>
                </a:solidFill>
                <a:latin typeface="Arial"/>
              </a:rPr>
              <a:t>07 • SHOW THE WORKING PROTOTYPE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67512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C2739"/>
                </a:solidFill>
                <a:latin typeface="Arial"/>
              </a:rPr>
              <a:t>Live Demonstration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731520" cy="41148"/>
          </a:xfrm>
          <a:prstGeom prst="rect">
            <a:avLst/>
          </a:prstGeom>
          <a:solidFill>
            <a:srgbClr val="2B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2860" bIns="22860">
            <a:normAutofit/>
          </a:bodyPr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61320" y="6473952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B687C"/>
                </a:solidFill>
                <a:latin typeface="Arial"/>
              </a:rPr>
              <a:t>08  / 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73952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B687C"/>
                </a:solidFill>
                <a:latin typeface="Arial"/>
              </a:rPr>
              <a:t>KLH • CSE • Hackathon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27632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C2739"/>
                </a:solidFill>
                <a:latin typeface="Arial"/>
              </a:rPr>
              <a:t>Suggested demo sequence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57400"/>
            <a:ext cx="5029200" cy="292608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22860" bIns="22860" anchor="ctr">
            <a:norm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2B53A0"/>
                </a:solidFill>
                <a:latin typeface="Arial"/>
              </a:rPr>
              <a:t>•  </a:t>
            </a:r>
            <a:r>
              <a:rPr sz="1400">
                <a:solidFill>
                  <a:srgbClr val="1C2739"/>
                </a:solidFill>
                <a:latin typeface="Arial"/>
              </a:rPr>
              <a:t>Compile from source with the documented build command.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2B53A0"/>
                </a:solidFill>
                <a:latin typeface="Arial"/>
              </a:rPr>
              <a:t>•  </a:t>
            </a:r>
            <a:r>
              <a:rPr sz="1400">
                <a:solidFill>
                  <a:srgbClr val="1C2739"/>
                </a:solidFill>
                <a:latin typeface="Arial"/>
              </a:rPr>
              <a:t>Trace a harmless command such as `echo hello` or `cat` on a small test file.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2B53A0"/>
                </a:solidFill>
                <a:latin typeface="Arial"/>
              </a:rPr>
              <a:t>•  </a:t>
            </a:r>
            <a:r>
              <a:rPr sz="1400">
                <a:solidFill>
                  <a:srgbClr val="1C2739"/>
                </a:solidFill>
                <a:latin typeface="Arial"/>
              </a:rPr>
              <a:t>Point out file / process calls and explain what they mean.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2B53A0"/>
                </a:solidFill>
                <a:latin typeface="Arial"/>
              </a:rPr>
              <a:t>•  </a:t>
            </a:r>
            <a:r>
              <a:rPr sz="1400">
                <a:solidFill>
                  <a:srgbClr val="1C2739"/>
                </a:solidFill>
                <a:latin typeface="Arial"/>
              </a:rPr>
              <a:t>Interrupt or finish the target and show clean exit handling.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011680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B53A0"/>
                </a:solidFill>
                <a:latin typeface="Arial"/>
              </a:rPr>
              <a:t>ILLUSTRATIVE TRACE FORMAT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487168"/>
            <a:ext cx="4343400" cy="256032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377B8"/>
                </a:solidFill>
                <a:latin typeface="Consolas"/>
              </a:rPr>
              <a:t>$ ./mini-strace /bin/echo hello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880360"/>
            <a:ext cx="4343400" cy="256032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F7D5B"/>
                </a:solidFill>
                <a:latin typeface="Consolas"/>
              </a:rPr>
              <a:t>execve(...) = 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3273552"/>
            <a:ext cx="4343400" cy="256032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F7D5B"/>
                </a:solidFill>
                <a:latin typeface="Consolas"/>
              </a:rPr>
              <a:t>brk(...) = ...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666744"/>
            <a:ext cx="4343400" cy="256032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F7D5B"/>
                </a:solidFill>
                <a:latin typeface="Consolas"/>
              </a:rPr>
              <a:t>mmap(...) = ...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4059936"/>
            <a:ext cx="4343400" cy="256032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F7D5B"/>
                </a:solidFill>
                <a:latin typeface="Consolas"/>
              </a:rPr>
              <a:t>write(1, "hello\n", 6) = 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4453128"/>
            <a:ext cx="4343400" cy="256032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F7D5B"/>
                </a:solidFill>
                <a:latin typeface="Consolas"/>
              </a:rPr>
              <a:t>exit_group(0)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5440680"/>
            <a:ext cx="4663440" cy="50292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B78736"/>
                </a:solidFill>
                <a:latin typeface="Arial"/>
              </a:rPr>
              <a:t>Sample only: replace with a screenshot or output captured from your actual prototype during testing.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B53A0"/>
                </a:solidFill>
                <a:latin typeface="Arial"/>
              </a:rPr>
              <a:t>08 • EVIDENCE BEFORE CLAIMS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67512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C2739"/>
                </a:solidFill>
                <a:latin typeface="Arial"/>
              </a:rPr>
              <a:t>Testing &amp; 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731520" cy="41148"/>
          </a:xfrm>
          <a:prstGeom prst="rect">
            <a:avLst/>
          </a:prstGeom>
          <a:solidFill>
            <a:srgbClr val="2B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2860" bIns="22860">
            <a:normAutofit/>
          </a:bodyPr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61320" y="6473952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B687C"/>
                </a:solidFill>
                <a:latin typeface="Arial"/>
              </a:rPr>
              <a:t>09  / 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73952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B687C"/>
                </a:solidFill>
                <a:latin typeface="Arial"/>
              </a:rPr>
              <a:t>KLH • CSE • Hackathon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83664"/>
            <a:ext cx="2148839" cy="18288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B53A0"/>
                </a:solidFill>
                <a:latin typeface="Arial"/>
              </a:rPr>
              <a:t>Test 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1883664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B53A0"/>
                </a:solidFill>
                <a:latin typeface="Arial"/>
              </a:rPr>
              <a:t>Expected behavior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883664"/>
            <a:ext cx="2103120" cy="18288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B53A0"/>
                </a:solidFill>
                <a:latin typeface="Arial"/>
              </a:rPr>
              <a:t>Evidence to capture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1883664"/>
            <a:ext cx="1920239" cy="18288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B53A0"/>
                </a:solidFill>
                <a:latin typeface="Arial"/>
              </a:rPr>
              <a:t>Status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368296"/>
            <a:ext cx="2148839" cy="246888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C2739"/>
                </a:solidFill>
                <a:latin typeface="Arial"/>
              </a:rPr>
              <a:t>Simple command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2368296"/>
            <a:ext cx="3200400" cy="246888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87C"/>
                </a:solidFill>
                <a:latin typeface="Arial"/>
              </a:rPr>
              <a:t>Trace starts and target runs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368296"/>
            <a:ext cx="2103120" cy="246888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87C"/>
                </a:solidFill>
                <a:latin typeface="Arial"/>
              </a:rPr>
              <a:t>Terminal 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2368296"/>
            <a:ext cx="1920239" cy="246888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78736"/>
                </a:solidFill>
                <a:latin typeface="Arial"/>
              </a:rPr>
              <a:t>To verify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2880360"/>
            <a:ext cx="2148839" cy="246888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C2739"/>
                </a:solidFill>
                <a:latin typeface="Arial"/>
              </a:rPr>
              <a:t>File-reading command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7560" y="2880360"/>
            <a:ext cx="3200400" cy="246888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87C"/>
                </a:solidFill>
                <a:latin typeface="Arial"/>
              </a:rPr>
              <a:t>Relevant file calls appear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880360"/>
            <a:ext cx="2103120" cy="246888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87C"/>
                </a:solidFill>
                <a:latin typeface="Arial"/>
              </a:rPr>
              <a:t>Trace + target output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2880360"/>
            <a:ext cx="1920239" cy="246888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78736"/>
                </a:solidFill>
                <a:latin typeface="Arial"/>
              </a:rPr>
              <a:t>To verify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3392424"/>
            <a:ext cx="2148839" cy="246888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C2739"/>
                </a:solidFill>
                <a:latin typeface="Arial"/>
              </a:rPr>
              <a:t>Invalid command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37560" y="3392424"/>
            <a:ext cx="3200400" cy="246888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87C"/>
                </a:solidFill>
                <a:latin typeface="Arial"/>
              </a:rPr>
              <a:t>Clear error / nonzero status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3392424"/>
            <a:ext cx="2103120" cy="246888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87C"/>
                </a:solidFill>
                <a:latin typeface="Arial"/>
              </a:rPr>
              <a:t>Error message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5440" y="3392424"/>
            <a:ext cx="1920239" cy="246888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78736"/>
                </a:solidFill>
                <a:latin typeface="Arial"/>
              </a:rPr>
              <a:t>To verify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3904488"/>
            <a:ext cx="2148839" cy="246888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C2739"/>
                </a:solidFill>
                <a:latin typeface="Arial"/>
              </a:rPr>
              <a:t>Early termination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37560" y="3904488"/>
            <a:ext cx="3200400" cy="246888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87C"/>
                </a:solidFill>
                <a:latin typeface="Arial"/>
              </a:rPr>
              <a:t>Child is reaped cleanly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3904488"/>
            <a:ext cx="2103120" cy="246888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87C"/>
                </a:solidFill>
                <a:latin typeface="Arial"/>
              </a:rPr>
              <a:t>Exit / signal record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35440" y="3904488"/>
            <a:ext cx="1920239" cy="246888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78736"/>
                </a:solidFill>
                <a:latin typeface="Arial"/>
              </a:rPr>
              <a:t>To verify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4416552"/>
            <a:ext cx="2148839" cy="246888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C2739"/>
                </a:solidFill>
                <a:latin typeface="Arial"/>
              </a:rPr>
              <a:t>Longer-running target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37560" y="4416552"/>
            <a:ext cx="3200400" cy="246888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87C"/>
                </a:solidFill>
                <a:latin typeface="Arial"/>
              </a:rPr>
              <a:t>Repeated events stay readable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0" y="4416552"/>
            <a:ext cx="2103120" cy="246888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87C"/>
                </a:solidFill>
                <a:latin typeface="Arial"/>
              </a:rPr>
              <a:t>Short trace capture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35440" y="4416552"/>
            <a:ext cx="1920239" cy="246888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78736"/>
                </a:solidFill>
                <a:latin typeface="Arial"/>
              </a:rPr>
              <a:t>To verify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78992" y="5532120"/>
            <a:ext cx="9966960" cy="256032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B78736"/>
                </a:solidFill>
                <a:latin typeface="Arial"/>
              </a:rPr>
              <a:t>No test results are claimed here. During the hackathon, update each status using observed runs and attach real evidence.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B53A0"/>
                </a:solidFill>
                <a:latin typeface="Arial"/>
              </a:rPr>
              <a:t>09 • TRUSTWORTHY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67512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C2739"/>
                </a:solidFill>
                <a:latin typeface="Arial"/>
              </a:rPr>
              <a:t>Impact, Limitations &amp; Responsible Use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731520" cy="41148"/>
          </a:xfrm>
          <a:prstGeom prst="rect">
            <a:avLst/>
          </a:prstGeom>
          <a:solidFill>
            <a:srgbClr val="2B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2860" bIns="22860">
            <a:normAutofit/>
          </a:bodyPr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61320" y="6473952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B687C"/>
                </a:solidFill>
                <a:latin typeface="Arial"/>
              </a:rPr>
              <a:t>10  / 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73952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B687C"/>
                </a:solidFill>
                <a:latin typeface="Arial"/>
              </a:rPr>
              <a:t>KLH • CSE • Hackathon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737360"/>
            <a:ext cx="50292" cy="1965960"/>
          </a:xfrm>
          <a:prstGeom prst="rect">
            <a:avLst/>
          </a:prstGeom>
          <a:solidFill>
            <a:srgbClr val="2B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2860" bIns="22860">
            <a:norm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1901952"/>
            <a:ext cx="2971800" cy="310896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C2739"/>
                </a:solidFill>
                <a:latin typeface="Arial"/>
              </a:rPr>
              <a:t>Learning 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304288"/>
            <a:ext cx="2953512" cy="12801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87C"/>
                </a:solidFill>
                <a:latin typeface="Arial"/>
              </a:rPr>
              <a:t>Makes user–kernel interactions more concrete and supports OS / systems-programming education.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1737360"/>
            <a:ext cx="50292" cy="1965960"/>
          </a:xfrm>
          <a:prstGeom prst="rect">
            <a:avLst/>
          </a:prstGeom>
          <a:solidFill>
            <a:srgbClr val="537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2860" bIns="22860">
            <a:normAutofit/>
          </a:bodyPr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7" y="1901952"/>
            <a:ext cx="2971800" cy="310896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C2739"/>
                </a:solidFill>
                <a:latin typeface="Arial"/>
              </a:rPr>
              <a:t>Practical 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2304288"/>
            <a:ext cx="2953512" cy="12801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87C"/>
                </a:solidFill>
                <a:latin typeface="Arial"/>
              </a:rPr>
              <a:t>Can help explain runtime behavior in small programs and build intuition for debugging.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1737360"/>
            <a:ext cx="50292" cy="1965960"/>
          </a:xfrm>
          <a:prstGeom prst="rect">
            <a:avLst/>
          </a:prstGeom>
          <a:solidFill>
            <a:srgbClr val="B78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2860" bIns="22860">
            <a:normAutofit/>
          </a:bodyPr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1901952"/>
            <a:ext cx="2971800" cy="310896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C2739"/>
                </a:solidFill>
                <a:latin typeface="Arial"/>
              </a:rPr>
              <a:t>Known limitations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304288"/>
            <a:ext cx="2953512" cy="12801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87C"/>
                </a:solidFill>
                <a:latin typeface="Arial"/>
              </a:rPr>
              <a:t>A simplified tracer may not decode every syscall, argument type, or architecture-specific detail.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160520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C2739"/>
                </a:solidFill>
                <a:latin typeface="Arial"/>
              </a:rPr>
              <a:t>Responsible implementation checklist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4572000"/>
            <a:ext cx="10149840" cy="146304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22860" bIns="22860" anchor="ctr">
            <a:norm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2B53A0"/>
                </a:solidFill>
                <a:latin typeface="Arial"/>
              </a:rPr>
              <a:t>•  </a:t>
            </a:r>
            <a:r>
              <a:rPr sz="1200">
                <a:solidFill>
                  <a:srgbClr val="1C2739"/>
                </a:solidFill>
                <a:latin typeface="Arial"/>
              </a:rPr>
              <a:t>Trace only programs you own or have permission to inspect.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2B53A0"/>
                </a:solidFill>
                <a:latin typeface="Arial"/>
              </a:rPr>
              <a:t>•  </a:t>
            </a:r>
            <a:r>
              <a:rPr sz="1200">
                <a:solidFill>
                  <a:srgbClr val="1C2739"/>
                </a:solidFill>
                <a:latin typeface="Arial"/>
              </a:rPr>
              <a:t>Use a controlled test environment; avoid attaching to critical system processes.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2B53A0"/>
                </a:solidFill>
                <a:latin typeface="Arial"/>
              </a:rPr>
              <a:t>•  </a:t>
            </a:r>
            <a:r>
              <a:rPr sz="1200">
                <a:solidFill>
                  <a:srgbClr val="1C2739"/>
                </a:solidFill>
                <a:latin typeface="Arial"/>
              </a:rPr>
              <a:t>Document Linux / architecture assumptions and permission requirements.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2B53A0"/>
                </a:solidFill>
                <a:latin typeface="Arial"/>
              </a:rPr>
              <a:t>•  </a:t>
            </a:r>
            <a:r>
              <a:rPr sz="1200">
                <a:solidFill>
                  <a:srgbClr val="1C2739"/>
                </a:solidFill>
                <a:latin typeface="Arial"/>
              </a:rPr>
              <a:t>Do not treat sample output as measured results; retain reproducible test evidence.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9436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B53A0"/>
                </a:solidFill>
                <a:latin typeface="Arial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1051560"/>
            <a:ext cx="6126480" cy="123444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1C2739"/>
                </a:solidFill>
                <a:latin typeface="Arial"/>
              </a:rPr>
              <a:t>Make system calls
visible.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606040"/>
            <a:ext cx="5669280" cy="91440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5B687C"/>
                </a:solidFill>
                <a:latin typeface="Arial"/>
              </a:rPr>
              <a:t>The Mini strace-Like Process Monitoring Tool is designed as a compact, educational view into the system-call boundary between applications and the Linux kernel.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0" y="132588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B53A0"/>
                </a:solidFill>
                <a:latin typeface="Arial"/>
              </a:rPr>
              <a:t>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78040" y="1828800"/>
            <a:ext cx="3611880" cy="210312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22860" bIns="22860" anchor="ctr">
            <a:norm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2B53A0"/>
                </a:solidFill>
                <a:latin typeface="Arial"/>
              </a:rPr>
              <a:t>•  </a:t>
            </a:r>
            <a:r>
              <a:rPr sz="1300">
                <a:solidFill>
                  <a:srgbClr val="1C2739"/>
                </a:solidFill>
                <a:latin typeface="Arial"/>
              </a:rPr>
              <a:t>Observe syscall events around program execution.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B53A0"/>
                </a:solidFill>
                <a:latin typeface="Arial"/>
              </a:rPr>
              <a:t>•  </a:t>
            </a:r>
            <a:r>
              <a:rPr sz="1300">
                <a:solidFill>
                  <a:srgbClr val="1C2739"/>
                </a:solidFill>
                <a:latin typeface="Arial"/>
              </a:rPr>
              <a:t>Translate low-level events into readable trace lines.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B53A0"/>
                </a:solidFill>
                <a:latin typeface="Arial"/>
              </a:rPr>
              <a:t>•  </a:t>
            </a:r>
            <a:r>
              <a:rPr sz="1300">
                <a:solidFill>
                  <a:srgbClr val="1C2739"/>
                </a:solidFill>
                <a:latin typeface="Arial"/>
              </a:rPr>
              <a:t>Validate behavior with repeatable, harmless test cases.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B53A0"/>
                </a:solidFill>
                <a:latin typeface="Arial"/>
              </a:rPr>
              <a:t>•  </a:t>
            </a:r>
            <a:r>
              <a:rPr sz="1300">
                <a:solidFill>
                  <a:srgbClr val="1C2739"/>
                </a:solidFill>
                <a:latin typeface="Arial"/>
              </a:rPr>
              <a:t>Keep scope clear and implementation safe.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617720"/>
            <a:ext cx="3657600" cy="5943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C2739"/>
                </a:solidFill>
                <a:latin typeface="Arial"/>
              </a:rPr>
              <a:t>THANK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5321808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5377B8"/>
                </a:solidFill>
                <a:latin typeface="Arial"/>
              </a:rPr>
              <a:t>Questions &amp; Discussion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5989320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87C"/>
                </a:solidFill>
                <a:latin typeface="Arial"/>
              </a:rPr>
              <a:t>Minajja Reddy  •  Varnika  •  Hamsini  •  Likitha Balineni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61320" y="6473952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anchor="t" tIns="22860" bIns="22860">
            <a:norm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B687C"/>
                </a:solidFill>
                <a:latin typeface="Arial"/>
              </a:rPr>
              <a:t>11  / 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 strace-Like Process Monitoring Tool</dc:title>
  <dc:subject>Professional academic presentation — OSS Hackathon 2026</dc:subject>
  <dc:creator>KLH Deemed to be University CSE Team</dc:creator>
  <cp:keywords>Linux, strace, ptrace, system calls, process monitoring, OSS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